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284"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E1C"/>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155680" cy="731520"/>
          </a:xfrm>
          <a:prstGeom prst="rect">
            <a:avLst/>
          </a:prstGeom>
          <a:noFill/>
        </p:spPr>
        <p:txBody>
          <a:bodyPr wrap="none">
            <a:spAutoFit/>
          </a:bodyPr>
          <a:lstStyle/>
          <a:p>
            <a:r>
              <a:rPr sz="2800" b="1">
                <a:solidFill>
                  <a:srgbClr val="F5F7FF"/>
                </a:solidFill>
              </a:rPr>
              <a:t>Daily Recovery Score</a:t>
            </a:r>
          </a:p>
        </p:txBody>
      </p:sp>
      <p:sp>
        <p:nvSpPr>
          <p:cNvPr id="3" name="TextBox 2"/>
          <p:cNvSpPr txBox="1"/>
          <p:nvPr/>
        </p:nvSpPr>
        <p:spPr>
          <a:xfrm>
            <a:off x="548640" y="960120"/>
            <a:ext cx="10972800" cy="457200"/>
          </a:xfrm>
          <a:prstGeom prst="rect">
            <a:avLst/>
          </a:prstGeom>
          <a:noFill/>
        </p:spPr>
        <p:txBody>
          <a:bodyPr wrap="none">
            <a:spAutoFit/>
          </a:bodyPr>
          <a:lstStyle/>
          <a:p>
            <a:r>
              <a:rPr sz="1300">
                <a:solidFill>
                  <a:srgbClr val="B9C2D6"/>
                </a:solidFill>
              </a:rPr>
              <a:t>A personalized wellness feature for smarter daily training decisions</a:t>
            </a:r>
          </a:p>
        </p:txBody>
      </p:sp>
      <p:sp>
        <p:nvSpPr>
          <p:cNvPr id="4" name="Rounded Rectangle 3"/>
          <p:cNvSpPr/>
          <p:nvPr/>
        </p:nvSpPr>
        <p:spPr>
          <a:xfrm>
            <a:off x="548640" y="1463040"/>
            <a:ext cx="11064240" cy="1143000"/>
          </a:xfrm>
          <a:prstGeom prst="roundRect">
            <a:avLst/>
          </a:prstGeom>
          <a:solidFill>
            <a:srgbClr val="141C30"/>
          </a:solidFill>
          <a:ln w="15240">
            <a:solidFill>
              <a:srgbClr val="5B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1572768"/>
            <a:ext cx="10789920" cy="960120"/>
          </a:xfrm>
          <a:prstGeom prst="rect">
            <a:avLst/>
          </a:prstGeom>
          <a:noFill/>
        </p:spPr>
        <p:txBody>
          <a:bodyPr wrap="square">
            <a:spAutoFit/>
          </a:bodyPr>
          <a:lstStyle/>
          <a:p>
            <a:r>
              <a:rPr sz="1500" b="1">
                <a:solidFill>
                  <a:srgbClr val="F5F7FF"/>
                </a:solidFill>
              </a:rPr>
              <a:t>Feature Name</a:t>
            </a:r>
          </a:p>
          <a:p>
            <a:pPr>
              <a:spcBef>
                <a:spcPts val="500"/>
              </a:spcBef>
            </a:pPr>
            <a:r>
              <a:rPr sz="1100">
                <a:solidFill>
                  <a:srgbClr val="B9C2D6"/>
                </a:solidFill>
              </a:rPr>
              <a:t>Daily Recovery Score</a:t>
            </a:r>
          </a:p>
        </p:txBody>
      </p:sp>
      <p:sp>
        <p:nvSpPr>
          <p:cNvPr id="6" name="Rounded Rectangle 5"/>
          <p:cNvSpPr/>
          <p:nvPr/>
        </p:nvSpPr>
        <p:spPr>
          <a:xfrm>
            <a:off x="548640" y="2743200"/>
            <a:ext cx="11064240" cy="2468880"/>
          </a:xfrm>
          <a:prstGeom prst="roundRect">
            <a:avLst/>
          </a:prstGeom>
          <a:solidFill>
            <a:srgbClr val="141C30"/>
          </a:solidFill>
          <a:ln w="15240">
            <a:solidFill>
              <a:srgbClr val="50D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2852928"/>
            <a:ext cx="10789920" cy="2286000"/>
          </a:xfrm>
          <a:prstGeom prst="rect">
            <a:avLst/>
          </a:prstGeom>
          <a:noFill/>
        </p:spPr>
        <p:txBody>
          <a:bodyPr wrap="square">
            <a:spAutoFit/>
          </a:bodyPr>
          <a:lstStyle/>
          <a:p>
            <a:r>
              <a:rPr sz="1500" b="1">
                <a:solidFill>
                  <a:srgbClr val="F5F7FF"/>
                </a:solidFill>
              </a:rPr>
              <a:t>Description</a:t>
            </a:r>
          </a:p>
          <a:p>
            <a:pPr>
              <a:spcBef>
                <a:spcPts val="500"/>
              </a:spcBef>
            </a:pPr>
            <a:r>
              <a:rPr sz="1100">
                <a:solidFill>
                  <a:srgbClr val="B9C2D6"/>
                </a:solidFill>
              </a:rPr>
              <a:t>Daily Recovery Score is a personalized wellness feature inside a health and fitness app. It combines sleep duration, sleep consistency, resting heart rate, recent activity load, and self-reported energy or soreness to generate a daily readiness score each morning. Based on that score, the app recommends whether the user should train hard, do light activity, focus on recovery, or rest.</a:t>
            </a:r>
          </a:p>
        </p:txBody>
      </p:sp>
      <p:sp>
        <p:nvSpPr>
          <p:cNvPr id="8" name="Rounded Rectangle 7"/>
          <p:cNvSpPr/>
          <p:nvPr/>
        </p:nvSpPr>
        <p:spPr>
          <a:xfrm>
            <a:off x="548640" y="5440680"/>
            <a:ext cx="11064240" cy="868680"/>
          </a:xfrm>
          <a:prstGeom prst="roundRect">
            <a:avLst/>
          </a:prstGeom>
          <a:solidFill>
            <a:srgbClr val="141C30"/>
          </a:solidFill>
          <a:ln w="15240">
            <a:solidFill>
              <a:srgbClr val="FFB8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5550408"/>
            <a:ext cx="10789920" cy="685800"/>
          </a:xfrm>
          <a:prstGeom prst="rect">
            <a:avLst/>
          </a:prstGeom>
          <a:noFill/>
        </p:spPr>
        <p:txBody>
          <a:bodyPr wrap="square">
            <a:spAutoFit/>
          </a:bodyPr>
          <a:lstStyle/>
          <a:p>
            <a:r>
              <a:rPr sz="1500" b="1">
                <a:solidFill>
                  <a:srgbClr val="F5F7FF"/>
                </a:solidFill>
              </a:rPr>
              <a:t>Purpose</a:t>
            </a:r>
          </a:p>
          <a:p>
            <a:pPr>
              <a:spcBef>
                <a:spcPts val="500"/>
              </a:spcBef>
            </a:pPr>
            <a:r>
              <a:rPr sz="1100">
                <a:solidFill>
                  <a:srgbClr val="B9C2D6"/>
                </a:solidFill>
              </a:rPr>
              <a:t>It turns scattered health data into one clear recommendation, while still showing the underlying factors so the result does not feel like a black box.</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E1C"/>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155680" cy="731520"/>
          </a:xfrm>
          <a:prstGeom prst="rect">
            <a:avLst/>
          </a:prstGeom>
          <a:noFill/>
        </p:spPr>
        <p:txBody>
          <a:bodyPr wrap="none">
            <a:spAutoFit/>
          </a:bodyPr>
          <a:lstStyle/>
          <a:p>
            <a:r>
              <a:rPr sz="2800" b="1">
                <a:solidFill>
                  <a:srgbClr val="F5F7FF"/>
                </a:solidFill>
              </a:rPr>
              <a:t>Target Users and Value</a:t>
            </a:r>
          </a:p>
        </p:txBody>
      </p:sp>
      <p:sp>
        <p:nvSpPr>
          <p:cNvPr id="3" name="Rounded Rectangle 2"/>
          <p:cNvSpPr/>
          <p:nvPr/>
        </p:nvSpPr>
        <p:spPr>
          <a:xfrm>
            <a:off x="548640" y="1371600"/>
            <a:ext cx="5394960" cy="2194560"/>
          </a:xfrm>
          <a:prstGeom prst="roundRect">
            <a:avLst/>
          </a:prstGeom>
          <a:solidFill>
            <a:srgbClr val="141C30"/>
          </a:solidFill>
          <a:ln w="15240">
            <a:solidFill>
              <a:srgbClr val="5B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481328"/>
            <a:ext cx="5120640" cy="2011680"/>
          </a:xfrm>
          <a:prstGeom prst="rect">
            <a:avLst/>
          </a:prstGeom>
          <a:noFill/>
        </p:spPr>
        <p:txBody>
          <a:bodyPr wrap="square">
            <a:spAutoFit/>
          </a:bodyPr>
          <a:lstStyle/>
          <a:p>
            <a:r>
              <a:rPr sz="1500" b="1">
                <a:solidFill>
                  <a:srgbClr val="F5F7FF"/>
                </a:solidFill>
              </a:rPr>
              <a:t>Target Users</a:t>
            </a:r>
          </a:p>
          <a:p>
            <a:pPr>
              <a:spcBef>
                <a:spcPts val="500"/>
              </a:spcBef>
            </a:pPr>
            <a:r>
              <a:rPr sz="1100">
                <a:solidFill>
                  <a:srgbClr val="B9C2D6"/>
                </a:solidFill>
              </a:rPr>
              <a:t>Primary users are health-conscious adults, fitness beginners, and regular exercisers who want simple daily guidance instead of interpreting multiple charts on their own.</a:t>
            </a:r>
          </a:p>
        </p:txBody>
      </p:sp>
      <p:sp>
        <p:nvSpPr>
          <p:cNvPr id="5" name="Rounded Rectangle 4"/>
          <p:cNvSpPr/>
          <p:nvPr/>
        </p:nvSpPr>
        <p:spPr>
          <a:xfrm>
            <a:off x="6126480" y="1371600"/>
            <a:ext cx="5486400" cy="2194560"/>
          </a:xfrm>
          <a:prstGeom prst="roundRect">
            <a:avLst/>
          </a:prstGeom>
          <a:solidFill>
            <a:srgbClr val="141C30"/>
          </a:solidFill>
          <a:ln w="15240">
            <a:solidFill>
              <a:srgbClr val="50D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291072" y="1481328"/>
            <a:ext cx="5212080" cy="2011680"/>
          </a:xfrm>
          <a:prstGeom prst="rect">
            <a:avLst/>
          </a:prstGeom>
          <a:noFill/>
        </p:spPr>
        <p:txBody>
          <a:bodyPr wrap="square">
            <a:spAutoFit/>
          </a:bodyPr>
          <a:lstStyle/>
          <a:p>
            <a:r>
              <a:rPr sz="1500" b="1">
                <a:solidFill>
                  <a:srgbClr val="F5F7FF"/>
                </a:solidFill>
              </a:rPr>
              <a:t>Secondary Users</a:t>
            </a:r>
          </a:p>
          <a:p>
            <a:pPr>
              <a:spcBef>
                <a:spcPts val="500"/>
              </a:spcBef>
            </a:pPr>
            <a:r>
              <a:rPr sz="1100">
                <a:solidFill>
                  <a:srgbClr val="B9C2D6"/>
                </a:solidFill>
              </a:rPr>
              <a:t>People returning to exercise after burnout, inconsistent sleep, or overtraining, plus users who already track sleep and workouts but struggle to decide how hard to push each day.</a:t>
            </a:r>
          </a:p>
        </p:txBody>
      </p:sp>
      <p:sp>
        <p:nvSpPr>
          <p:cNvPr id="7" name="Rounded Rectangle 6"/>
          <p:cNvSpPr/>
          <p:nvPr/>
        </p:nvSpPr>
        <p:spPr>
          <a:xfrm>
            <a:off x="548640" y="3886200"/>
            <a:ext cx="11064240" cy="1691640"/>
          </a:xfrm>
          <a:prstGeom prst="roundRect">
            <a:avLst/>
          </a:prstGeom>
          <a:solidFill>
            <a:srgbClr val="141C30"/>
          </a:solidFill>
          <a:ln w="15240">
            <a:solidFill>
              <a:srgbClr val="FFB8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3995928"/>
            <a:ext cx="10789920" cy="1508760"/>
          </a:xfrm>
          <a:prstGeom prst="rect">
            <a:avLst/>
          </a:prstGeom>
          <a:noFill/>
        </p:spPr>
        <p:txBody>
          <a:bodyPr wrap="square">
            <a:spAutoFit/>
          </a:bodyPr>
          <a:lstStyle/>
          <a:p>
            <a:r>
              <a:rPr sz="1500" b="1">
                <a:solidFill>
                  <a:srgbClr val="F5F7FF"/>
                </a:solidFill>
              </a:rPr>
              <a:t>Value Proposition</a:t>
            </a:r>
          </a:p>
          <a:p>
            <a:pPr>
              <a:spcBef>
                <a:spcPts val="500"/>
              </a:spcBef>
            </a:pPr>
            <a:r>
              <a:rPr sz="1100">
                <a:solidFill>
                  <a:srgbClr val="B9C2D6"/>
                </a:solidFill>
              </a:rPr>
              <a:t>Know how hard to push today. Daily Recovery Score helps users turn scattered health signals into one clear action, so they can train smarter, recover better, and avoid overdoing it when their body is under stress.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E1C"/>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155680" cy="731520"/>
          </a:xfrm>
          <a:prstGeom prst="rect">
            <a:avLst/>
          </a:prstGeom>
          <a:noFill/>
        </p:spPr>
        <p:txBody>
          <a:bodyPr wrap="none">
            <a:spAutoFit/>
          </a:bodyPr>
          <a:lstStyle/>
          <a:p>
            <a:r>
              <a:rPr sz="2800" b="1">
                <a:solidFill>
                  <a:srgbClr val="F5F7FF"/>
                </a:solidFill>
              </a:rPr>
              <a:t>Launch Plan</a:t>
            </a:r>
          </a:p>
        </p:txBody>
      </p:sp>
      <p:sp>
        <p:nvSpPr>
          <p:cNvPr id="3" name="Rounded Rectangle 2"/>
          <p:cNvSpPr/>
          <p:nvPr/>
        </p:nvSpPr>
        <p:spPr>
          <a:xfrm>
            <a:off x="548640" y="1325880"/>
            <a:ext cx="11064240" cy="1508760"/>
          </a:xfrm>
          <a:prstGeom prst="roundRect">
            <a:avLst/>
          </a:prstGeom>
          <a:solidFill>
            <a:srgbClr val="141C30"/>
          </a:solidFill>
          <a:ln w="15240">
            <a:solidFill>
              <a:srgbClr val="5B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435608"/>
            <a:ext cx="10789920" cy="1325880"/>
          </a:xfrm>
          <a:prstGeom prst="rect">
            <a:avLst/>
          </a:prstGeom>
          <a:noFill/>
        </p:spPr>
        <p:txBody>
          <a:bodyPr wrap="square">
            <a:spAutoFit/>
          </a:bodyPr>
          <a:lstStyle/>
          <a:p>
            <a:r>
              <a:rPr sz="1500" b="1">
                <a:solidFill>
                  <a:srgbClr val="F5F7FF"/>
                </a:solidFill>
              </a:rPr>
              <a:t>Launch Goal</a:t>
            </a:r>
          </a:p>
          <a:p>
            <a:pPr>
              <a:spcBef>
                <a:spcPts val="500"/>
              </a:spcBef>
            </a:pPr>
            <a:r>
              <a:rPr sz="1100">
                <a:solidFill>
                  <a:srgbClr val="B9C2D6"/>
                </a:solidFill>
              </a:rPr>
              <a:t>Success means users check the score regularly, understand why it changes, and adjust their behavior based on the recommendation. The early goal is to increase weekly engagement, morning app opens, and repeat use of sleep and recovery-related features.</a:t>
            </a:r>
          </a:p>
        </p:txBody>
      </p:sp>
      <p:sp>
        <p:nvSpPr>
          <p:cNvPr id="5" name="Rounded Rectangle 4"/>
          <p:cNvSpPr/>
          <p:nvPr/>
        </p:nvSpPr>
        <p:spPr>
          <a:xfrm>
            <a:off x="548640" y="3063240"/>
            <a:ext cx="11064240" cy="2331720"/>
          </a:xfrm>
          <a:prstGeom prst="roundRect">
            <a:avLst/>
          </a:prstGeom>
          <a:solidFill>
            <a:srgbClr val="141C30"/>
          </a:solidFill>
          <a:ln w="15240">
            <a:solidFill>
              <a:srgbClr val="50D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3172968"/>
            <a:ext cx="10789920" cy="2148840"/>
          </a:xfrm>
          <a:prstGeom prst="rect">
            <a:avLst/>
          </a:prstGeom>
          <a:noFill/>
        </p:spPr>
        <p:txBody>
          <a:bodyPr wrap="square">
            <a:spAutoFit/>
          </a:bodyPr>
          <a:lstStyle/>
          <a:p>
            <a:r>
              <a:rPr sz="1500" b="1">
                <a:solidFill>
                  <a:srgbClr val="F5F7FF"/>
                </a:solidFill>
              </a:rPr>
              <a:t>Timeline</a:t>
            </a:r>
          </a:p>
          <a:p>
            <a:pPr>
              <a:spcBef>
                <a:spcPts val="500"/>
              </a:spcBef>
            </a:pPr>
            <a:r>
              <a:rPr sz="1100">
                <a:solidFill>
                  <a:srgbClr val="B9C2D6"/>
                </a:solidFill>
              </a:rPr>
              <a:t>8 weeks of runway.</a:t>
            </a:r>
          </a:p>
          <a:p>
            <a:pPr>
              <a:spcBef>
                <a:spcPts val="500"/>
              </a:spcBef>
            </a:pPr>
            <a:r>
              <a:rPr sz="1100">
                <a:solidFill>
                  <a:srgbClr val="B9C2D6"/>
                </a:solidFill>
              </a:rPr>
              <a:t>Weeks 1–2: internal testing and quality calibration.</a:t>
            </a:r>
          </a:p>
          <a:p>
            <a:pPr>
              <a:spcBef>
                <a:spcPts val="500"/>
              </a:spcBef>
            </a:pPr>
            <a:r>
              <a:rPr sz="1100">
                <a:solidFill>
                  <a:srgbClr val="B9C2D6"/>
                </a:solidFill>
              </a:rPr>
              <a:t>Weeks 3–4: beta with existing premium users who already log sleep and workouts.</a:t>
            </a:r>
          </a:p>
          <a:p>
            <a:pPr>
              <a:spcBef>
                <a:spcPts val="500"/>
              </a:spcBef>
            </a:pPr>
            <a:r>
              <a:rPr sz="1100">
                <a:solidFill>
                  <a:srgbClr val="B9C2D6"/>
                </a:solidFill>
              </a:rPr>
              <a:t>Weeks 5–6: improve explanation screens, recommendation language, and confidence indicators.</a:t>
            </a:r>
          </a:p>
          <a:p>
            <a:pPr>
              <a:spcBef>
                <a:spcPts val="500"/>
              </a:spcBef>
            </a:pPr>
            <a:r>
              <a:rPr sz="1100">
                <a:solidFill>
                  <a:srgbClr val="B9C2D6"/>
                </a:solidFill>
              </a:rPr>
              <a:t>Weeks 7–8: phased public rollout with onboarding education and privacy messaging.</a:t>
            </a:r>
          </a:p>
        </p:txBody>
      </p:sp>
      <p:sp>
        <p:nvSpPr>
          <p:cNvPr id="7" name="Rounded Rectangle 6"/>
          <p:cNvSpPr/>
          <p:nvPr/>
        </p:nvSpPr>
        <p:spPr>
          <a:xfrm>
            <a:off x="548640" y="5577840"/>
            <a:ext cx="11064240" cy="640080"/>
          </a:xfrm>
          <a:prstGeom prst="roundRect">
            <a:avLst/>
          </a:prstGeom>
          <a:solidFill>
            <a:srgbClr val="141C30"/>
          </a:solidFill>
          <a:ln w="15240">
            <a:solidFill>
              <a:srgbClr val="FFB8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5687568"/>
            <a:ext cx="10789920" cy="457200"/>
          </a:xfrm>
          <a:prstGeom prst="rect">
            <a:avLst/>
          </a:prstGeom>
          <a:noFill/>
        </p:spPr>
        <p:txBody>
          <a:bodyPr wrap="square">
            <a:spAutoFit/>
          </a:bodyPr>
          <a:lstStyle/>
          <a:p>
            <a:r>
              <a:rPr sz="1500" b="1">
                <a:solidFill>
                  <a:srgbClr val="F5F7FF"/>
                </a:solidFill>
              </a:rPr>
              <a:t>Competitors / Alternatives</a:t>
            </a:r>
          </a:p>
          <a:p>
            <a:pPr>
              <a:spcBef>
                <a:spcPts val="500"/>
              </a:spcBef>
            </a:pPr>
            <a:r>
              <a:rPr sz="1100">
                <a:solidFill>
                  <a:srgbClr val="B9C2D6"/>
                </a:solidFill>
              </a:rPr>
              <a:t>Users may rely on raw sleep graphs, workout history, smartwatch recovery metrics, general fitness advice, or intuition. The closest alternatives surface readiness or recovery signals, but many users still piece together these signals manually.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E1C"/>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155680" cy="731520"/>
          </a:xfrm>
          <a:prstGeom prst="rect">
            <a:avLst/>
          </a:prstGeom>
          <a:noFill/>
        </p:spPr>
        <p:txBody>
          <a:bodyPr wrap="none">
            <a:spAutoFit/>
          </a:bodyPr>
          <a:lstStyle/>
          <a:p>
            <a:r>
              <a:rPr sz="2800" b="1">
                <a:solidFill>
                  <a:srgbClr val="F5F7FF"/>
                </a:solidFill>
              </a:rPr>
              <a:t>Known Concerns</a:t>
            </a:r>
          </a:p>
        </p:txBody>
      </p:sp>
      <p:sp>
        <p:nvSpPr>
          <p:cNvPr id="3" name="Rounded Rectangle 2"/>
          <p:cNvSpPr/>
          <p:nvPr/>
        </p:nvSpPr>
        <p:spPr>
          <a:xfrm>
            <a:off x="548640" y="1371600"/>
            <a:ext cx="11064240" cy="4389120"/>
          </a:xfrm>
          <a:prstGeom prst="roundRect">
            <a:avLst/>
          </a:prstGeom>
          <a:solidFill>
            <a:srgbClr val="141C30"/>
          </a:solidFill>
          <a:ln w="15240">
            <a:solidFill>
              <a:srgbClr val="5B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481328"/>
            <a:ext cx="10789920" cy="4206240"/>
          </a:xfrm>
          <a:prstGeom prst="rect">
            <a:avLst/>
          </a:prstGeom>
          <a:noFill/>
        </p:spPr>
        <p:txBody>
          <a:bodyPr wrap="square">
            <a:spAutoFit/>
          </a:bodyPr>
          <a:lstStyle/>
          <a:p>
            <a:r>
              <a:rPr sz="1500" b="1">
                <a:solidFill>
                  <a:srgbClr val="F5F7FF"/>
                </a:solidFill>
              </a:rPr>
              <a:t>Risks to Address</a:t>
            </a:r>
          </a:p>
          <a:p>
            <a:pPr>
              <a:spcBef>
                <a:spcPts val="500"/>
              </a:spcBef>
            </a:pPr>
            <a:r>
              <a:rPr sz="1100">
                <a:solidFill>
                  <a:srgbClr val="B9C2D6"/>
                </a:solidFill>
              </a:rPr>
              <a:t>The biggest concern is trust and misinterpretation. If the score feels inconsistent, too generic, or medically overconfident, users may ignore it or treat it too seriously. Privacy is another major concern because health apps handle sensitive personal data and users may worry about how sleep, activity, and wellness information is stored or shared. There is also a messaging risk: the feature should feel like wellness guidance, not medical advice, and it should explain uncertainty clearly so users understand that the score is directional support rather than a diagnosis.</a:t>
            </a:r>
          </a:p>
        </p:txBody>
      </p:sp>
      <p:sp>
        <p:nvSpPr>
          <p:cNvPr id="5" name="Rounded Rectangle 4"/>
          <p:cNvSpPr/>
          <p:nvPr/>
        </p:nvSpPr>
        <p:spPr>
          <a:xfrm>
            <a:off x="548640" y="5897880"/>
            <a:ext cx="11064240" cy="502920"/>
          </a:xfrm>
          <a:prstGeom prst="roundRect">
            <a:avLst/>
          </a:prstGeom>
          <a:solidFill>
            <a:srgbClr val="141C30"/>
          </a:solidFill>
          <a:ln w="15240">
            <a:solidFill>
              <a:srgbClr val="50D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6007608"/>
            <a:ext cx="10789920" cy="320040"/>
          </a:xfrm>
          <a:prstGeom prst="rect">
            <a:avLst/>
          </a:prstGeom>
          <a:noFill/>
        </p:spPr>
        <p:txBody>
          <a:bodyPr wrap="square">
            <a:spAutoFit/>
          </a:bodyPr>
          <a:lstStyle/>
          <a:p>
            <a:r>
              <a:rPr sz="1500" b="1">
                <a:solidFill>
                  <a:srgbClr val="F5F7FF"/>
                </a:solidFill>
              </a:rPr>
              <a:t>Best positioning</a:t>
            </a:r>
          </a:p>
          <a:p>
            <a:pPr>
              <a:spcBef>
                <a:spcPts val="500"/>
              </a:spcBef>
            </a:pPr>
            <a:r>
              <a:rPr sz="1100">
                <a:solidFill>
                  <a:srgbClr val="B9C2D6"/>
                </a:solidFill>
              </a:rPr>
              <a:t>Helpful guidance, transparent reasoning, and a calm confidence style will matter more than aggressive claims.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500</Words>
  <Application>Microsoft Office PowerPoint</Application>
  <PresentationFormat>Widescreen</PresentationFormat>
  <Paragraphs>31</Paragraphs>
  <Slides>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Fazil, Mohamed</cp:lastModifiedBy>
  <cp:revision>2</cp:revision>
  <dcterms:created xsi:type="dcterms:W3CDTF">2013-01-27T09:14:16Z</dcterms:created>
  <dcterms:modified xsi:type="dcterms:W3CDTF">2026-06-20T14:13:01Z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47f6f79-9070-4ada-976f-86354d57e079_Enabled">
    <vt:lpwstr>true</vt:lpwstr>
  </property>
  <property fmtid="{D5CDD505-2E9C-101B-9397-08002B2CF9AE}" pid="3" name="MSIP_Label_147f6f79-9070-4ada-976f-86354d57e079_SetDate">
    <vt:lpwstr>2026-06-20T14:12:59Z</vt:lpwstr>
  </property>
  <property fmtid="{D5CDD505-2E9C-101B-9397-08002B2CF9AE}" pid="4" name="MSIP_Label_147f6f79-9070-4ada-976f-86354d57e079_Method">
    <vt:lpwstr>Privileged</vt:lpwstr>
  </property>
  <property fmtid="{D5CDD505-2E9C-101B-9397-08002B2CF9AE}" pid="5" name="MSIP_Label_147f6f79-9070-4ada-976f-86354d57e079_Name">
    <vt:lpwstr>Public</vt:lpwstr>
  </property>
  <property fmtid="{D5CDD505-2E9C-101B-9397-08002B2CF9AE}" pid="6" name="MSIP_Label_147f6f79-9070-4ada-976f-86354d57e079_SiteId">
    <vt:lpwstr>8d894c2b-238f-490b-8dd1-d93898c5bf83</vt:lpwstr>
  </property>
  <property fmtid="{D5CDD505-2E9C-101B-9397-08002B2CF9AE}" pid="7" name="MSIP_Label_147f6f79-9070-4ada-976f-86354d57e079_ActionId">
    <vt:lpwstr>962deedd-a8dd-45fa-9e1d-f004089d3d2e</vt:lpwstr>
  </property>
  <property fmtid="{D5CDD505-2E9C-101B-9397-08002B2CF9AE}" pid="8" name="MSIP_Label_147f6f79-9070-4ada-976f-86354d57e079_ContentBits">
    <vt:lpwstr>0</vt:lpwstr>
  </property>
  <property fmtid="{D5CDD505-2E9C-101B-9397-08002B2CF9AE}" pid="9" name="MSIP_Label_147f6f79-9070-4ada-976f-86354d57e079_Tag">
    <vt:lpwstr>10, 0, 1, 1</vt:lpwstr>
  </property>
</Properties>
</file>